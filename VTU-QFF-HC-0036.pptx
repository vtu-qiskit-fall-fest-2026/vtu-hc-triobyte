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7.png" ContentType="image/png"/>
  <Override PartName="/ppt/media/image9.jpeg" ContentType="image/jpeg"/>
  <Override PartName="/ppt/media/image8.png" ContentType="image/png"/>
  <Override PartName="/ppt/media/image6.png" ContentType="image/png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move the slide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Double-tap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fld id="{01433B96-9884-46ED-A46C-55267FCCB38B}" type="slidenum"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13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43CCD0-95CA-48F3-B959-B02F4B94EE61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14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7DC0A4-1C58-432E-8F6F-E4ED169544B1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15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919048-5DC6-422E-876F-AD12F9411AF5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16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FEAAB6-9B19-49AF-A155-932AA665F616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17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28F6F0-DFC7-4D53-A71D-E0C01C6698E8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18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98A42E-FF84-4E4C-82A7-B671317CBB7E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19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D1938B-C068-438A-AA37-0D40B4CDE7D1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20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3E25EB-CB69-4E9B-9FB7-30A96BD4EAC5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21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3F8393-BD17-4A37-9BA0-DE331778FED4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22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7C9728-4368-4650-AA47-50C22E5CDE4F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0922B37-8144-4ACB-986B-F0B5FCDD791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658440"/>
            <a:ext cx="3053880" cy="45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" name="Shape 2"/>
          <p:cNvSpPr/>
          <p:nvPr/>
        </p:nvSpPr>
        <p:spPr>
          <a:xfrm>
            <a:off x="3054240" y="658440"/>
            <a:ext cx="3053880" cy="45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Shape 3"/>
          <p:cNvSpPr/>
          <p:nvPr/>
        </p:nvSpPr>
        <p:spPr>
          <a:xfrm>
            <a:off x="6099120" y="658440"/>
            <a:ext cx="3053880" cy="45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" name="Image 0" descr="vtu_c.png"/>
          <p:cNvPicPr/>
          <p:nvPr/>
        </p:nvPicPr>
        <p:blipFill>
          <a:blip r:embed="rId2"/>
          <a:stretch/>
        </p:blipFill>
        <p:spPr>
          <a:xfrm>
            <a:off x="365760" y="9144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Text 4"/>
          <p:cNvSpPr/>
          <p:nvPr/>
        </p:nvSpPr>
        <p:spPr>
          <a:xfrm>
            <a:off x="932760" y="91440"/>
            <a:ext cx="3108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hi-IN" sz="950" strike="noStrike" u="none">
                <a:solidFill>
                  <a:srgbClr val="2e1b5b"/>
                </a:solidFill>
                <a:uFillTx/>
                <a:latin typeface="Nirmala UI"/>
                <a:cs typeface="Nirmala UI"/>
              </a:rPr>
              <a:t>ವಿಶ್ವೇಶ್ವರಯ್ಯ ತಾಂತ್ರಿಕ ವಿಶ್ವವಿದ್ಯಾಲಯ</a:t>
            </a:r>
            <a:r>
              <a:rPr b="1" lang="en-US" sz="950" strike="noStrike" u="none">
                <a:solidFill>
                  <a:srgbClr val="2e1b5b"/>
                </a:solidFill>
                <a:uFillTx/>
                <a:latin typeface="Nirmala UI"/>
                <a:ea typeface="Nirmala UI"/>
              </a:rPr>
              <a:t>, </a:t>
            </a:r>
            <a:r>
              <a:rPr b="1" lang="hi-IN" sz="950" strike="noStrike" u="none">
                <a:solidFill>
                  <a:srgbClr val="2e1b5b"/>
                </a:solidFill>
                <a:uFillTx/>
                <a:latin typeface="Nirmala UI"/>
                <a:cs typeface="Nirmala UI"/>
              </a:rPr>
              <a:t>ಬೆಳಗಾವಿ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Text 5"/>
          <p:cNvSpPr/>
          <p:nvPr/>
        </p:nvSpPr>
        <p:spPr>
          <a:xfrm>
            <a:off x="932760" y="338400"/>
            <a:ext cx="3108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e1b5b"/>
                </a:solidFill>
                <a:uFillTx/>
                <a:latin typeface="Calibri"/>
                <a:ea typeface="Calibri"/>
              </a:rPr>
              <a:t>Visvesvaraya Technological University, Belagavi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" name="Image 1" descr="quc_d.png"/>
          <p:cNvPicPr/>
          <p:nvPr/>
        </p:nvPicPr>
        <p:blipFill>
          <a:blip r:embed="rId3"/>
          <a:stretch/>
        </p:blipFill>
        <p:spPr>
          <a:xfrm>
            <a:off x="4260960" y="91440"/>
            <a:ext cx="61236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Text 6"/>
          <p:cNvSpPr/>
          <p:nvPr/>
        </p:nvSpPr>
        <p:spPr>
          <a:xfrm>
            <a:off x="5394960" y="109800"/>
            <a:ext cx="278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01" strike="noStrike" u="none">
                <a:solidFill>
                  <a:srgbClr val="2e1b5b"/>
                </a:solidFill>
                <a:uFillTx/>
                <a:latin typeface="Calibri"/>
              </a:rPr>
              <a:t>QISKIT FALL FEST 2026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94960" y="365760"/>
            <a:ext cx="278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99" strike="noStrike" u="none">
                <a:solidFill>
                  <a:srgbClr val="5b3ba8"/>
                </a:solidFill>
                <a:uFillTx/>
                <a:latin typeface="Calibri"/>
              </a:rPr>
              <a:t>IBM Quantum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" name="Image 2" descr="badge_c.png"/>
          <p:cNvPicPr/>
          <p:nvPr/>
        </p:nvPicPr>
        <p:blipFill>
          <a:blip r:embed="rId4"/>
          <a:stretch/>
        </p:blipFill>
        <p:spPr>
          <a:xfrm>
            <a:off x="8302680" y="9144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Shape 8"/>
          <p:cNvSpPr/>
          <p:nvPr/>
        </p:nvSpPr>
        <p:spPr>
          <a:xfrm>
            <a:off x="0" y="4827960"/>
            <a:ext cx="9143640" cy="315000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0" y="4827960"/>
            <a:ext cx="3053880" cy="36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054240" y="4827960"/>
            <a:ext cx="3053880" cy="36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099120" y="4827960"/>
            <a:ext cx="3053880" cy="36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57200" y="486468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201" strike="noStrike" u="none">
                <a:solidFill>
                  <a:srgbClr val="2e1b5b"/>
                </a:solidFill>
                <a:uFillTx/>
                <a:latin typeface="Calibri"/>
              </a:rPr>
              <a:t>QISKIT FALL FEST 2026  ·  HOSTED BY VTU, BELAGAVI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943600" y="486468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201" strike="noStrike" u="none">
                <a:solidFill>
                  <a:srgbClr val="5b3ba8"/>
                </a:solidFill>
                <a:uFillTx/>
                <a:latin typeface="Calibri"/>
              </a:rPr>
              <a:t>27 – 31 OCT 2026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Double-tap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0" y="658440"/>
            <a:ext cx="3053880" cy="45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3054240" y="658440"/>
            <a:ext cx="3053880" cy="45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6099120" y="658440"/>
            <a:ext cx="3053880" cy="45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3" name="Image 0" descr="vtu_c.png"/>
          <p:cNvPicPr/>
          <p:nvPr/>
        </p:nvPicPr>
        <p:blipFill>
          <a:blip r:embed="rId2"/>
          <a:stretch/>
        </p:blipFill>
        <p:spPr>
          <a:xfrm>
            <a:off x="365760" y="9144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4"/>
          <p:cNvSpPr/>
          <p:nvPr/>
        </p:nvSpPr>
        <p:spPr>
          <a:xfrm>
            <a:off x="932760" y="91440"/>
            <a:ext cx="3108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hi-IN" sz="950" strike="noStrike" u="none">
                <a:solidFill>
                  <a:srgbClr val="2e1b5b"/>
                </a:solidFill>
                <a:uFillTx/>
                <a:latin typeface="Nirmala UI"/>
                <a:cs typeface="Nirmala UI"/>
              </a:rPr>
              <a:t>ವಿಶ್ವೇಶ್ವರಯ್ಯ ತಾಂತ್ರಿಕ ವಿಶ್ವವಿದ್ಯಾಲಯ</a:t>
            </a:r>
            <a:r>
              <a:rPr b="1" lang="en-US" sz="950" strike="noStrike" u="none">
                <a:solidFill>
                  <a:srgbClr val="2e1b5b"/>
                </a:solidFill>
                <a:uFillTx/>
                <a:latin typeface="Nirmala UI"/>
                <a:ea typeface="Nirmala UI"/>
              </a:rPr>
              <a:t>, </a:t>
            </a:r>
            <a:r>
              <a:rPr b="1" lang="hi-IN" sz="950" strike="noStrike" u="none">
                <a:solidFill>
                  <a:srgbClr val="2e1b5b"/>
                </a:solidFill>
                <a:uFillTx/>
                <a:latin typeface="Nirmala UI"/>
                <a:cs typeface="Nirmala UI"/>
              </a:rPr>
              <a:t>ಬೆಳಗಾವಿ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932760" y="338400"/>
            <a:ext cx="3108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e1b5b"/>
                </a:solidFill>
                <a:uFillTx/>
                <a:latin typeface="Calibri"/>
                <a:ea typeface="Calibri"/>
              </a:rPr>
              <a:t>Visvesvaraya Technological University, Belagavi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6" name="Image 1" descr="quc_d.png"/>
          <p:cNvPicPr/>
          <p:nvPr/>
        </p:nvPicPr>
        <p:blipFill>
          <a:blip r:embed="rId3"/>
          <a:stretch/>
        </p:blipFill>
        <p:spPr>
          <a:xfrm>
            <a:off x="4260960" y="91440"/>
            <a:ext cx="61236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 6"/>
          <p:cNvSpPr/>
          <p:nvPr/>
        </p:nvSpPr>
        <p:spPr>
          <a:xfrm>
            <a:off x="5394960" y="109800"/>
            <a:ext cx="278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01" strike="noStrike" u="none">
                <a:solidFill>
                  <a:srgbClr val="2e1b5b"/>
                </a:solidFill>
                <a:uFillTx/>
                <a:latin typeface="Calibri"/>
              </a:rPr>
              <a:t>QISKIT FALL FEST 2026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Text 7"/>
          <p:cNvSpPr/>
          <p:nvPr/>
        </p:nvSpPr>
        <p:spPr>
          <a:xfrm>
            <a:off x="5394960" y="365760"/>
            <a:ext cx="278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99" strike="noStrike" u="none">
                <a:solidFill>
                  <a:srgbClr val="5b3ba8"/>
                </a:solidFill>
                <a:uFillTx/>
                <a:latin typeface="Calibri"/>
              </a:rPr>
              <a:t>IBM Quantum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9" name="Image 2" descr="badge_c.png"/>
          <p:cNvPicPr/>
          <p:nvPr/>
        </p:nvPicPr>
        <p:blipFill>
          <a:blip r:embed="rId4"/>
          <a:stretch/>
        </p:blipFill>
        <p:spPr>
          <a:xfrm>
            <a:off x="8302680" y="9144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Shape 8"/>
          <p:cNvSpPr/>
          <p:nvPr/>
        </p:nvSpPr>
        <p:spPr>
          <a:xfrm>
            <a:off x="0" y="4827960"/>
            <a:ext cx="9143640" cy="315000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Shape 9"/>
          <p:cNvSpPr/>
          <p:nvPr/>
        </p:nvSpPr>
        <p:spPr>
          <a:xfrm>
            <a:off x="0" y="4827960"/>
            <a:ext cx="3053880" cy="36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" name="Shape 10"/>
          <p:cNvSpPr/>
          <p:nvPr/>
        </p:nvSpPr>
        <p:spPr>
          <a:xfrm>
            <a:off x="3054240" y="4827960"/>
            <a:ext cx="3053880" cy="36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" name="Shape 11"/>
          <p:cNvSpPr/>
          <p:nvPr/>
        </p:nvSpPr>
        <p:spPr>
          <a:xfrm>
            <a:off x="6099120" y="4827960"/>
            <a:ext cx="3053880" cy="36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457200" y="486468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201" strike="noStrike" u="none">
                <a:solidFill>
                  <a:srgbClr val="2e1b5b"/>
                </a:solidFill>
                <a:uFillTx/>
                <a:latin typeface="Calibri"/>
              </a:rPr>
              <a:t>QISKIT FALL FEST 2026  ·  HOSTED BY VTU, BELAGAVI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5943600" y="486468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201" strike="noStrike" u="none">
                <a:solidFill>
                  <a:srgbClr val="5b3ba8"/>
                </a:solidFill>
                <a:uFillTx/>
                <a:latin typeface="Calibri"/>
              </a:rPr>
              <a:t>27 – 31 OCT 2026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6" name="Image 3" descr="sphere.png"/>
          <p:cNvPicPr/>
          <p:nvPr/>
        </p:nvPicPr>
        <p:blipFill>
          <a:blip r:embed="rId5"/>
          <a:stretch/>
        </p:blipFill>
        <p:spPr>
          <a:xfrm>
            <a:off x="7909560" y="822960"/>
            <a:ext cx="776880" cy="77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Image 4" descr="bird1.png"/>
          <p:cNvPicPr/>
          <p:nvPr/>
        </p:nvPicPr>
        <p:blipFill>
          <a:blip r:embed="rId6"/>
          <a:stretch/>
        </p:blipFill>
        <p:spPr>
          <a:xfrm>
            <a:off x="7086600" y="868680"/>
            <a:ext cx="548280" cy="32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Image 5" descr="bird2.png"/>
          <p:cNvPicPr/>
          <p:nvPr/>
        </p:nvPicPr>
        <p:blipFill>
          <a:blip r:embed="rId7"/>
          <a:stretch/>
        </p:blipFill>
        <p:spPr>
          <a:xfrm>
            <a:off x="6903720" y="1261800"/>
            <a:ext cx="38376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841320"/>
            <a:ext cx="6309000" cy="59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r>
              <a:rPr b="0" lang="en-US" sz="2600" strike="noStrike" u="none">
                <a:solidFill>
                  <a:schemeClr val="dk1"/>
                </a:solidFill>
                <a:uFillTx/>
                <a:latin typeface="Calibri"/>
              </a:rPr>
              <a:t>Double-tap to edit the title text format</a:t>
            </a:r>
            <a:endParaRPr b="0" lang="en-US" sz="2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"/>
          </p:nvPr>
        </p:nvSpPr>
        <p:spPr>
          <a:xfrm>
            <a:off x="8321040" y="4864680"/>
            <a:ext cx="36540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trike="noStrike" u="none">
                <a:solidFill>
                  <a:srgbClr val="2e1b5b"/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EB548F-6509-4BF9-8A95-31A8949CEE70}" type="slidenum">
              <a:rPr b="1" lang="en-US" sz="900" strike="noStrike" u="none">
                <a:solidFill>
                  <a:srgbClr val="2e1b5b"/>
                </a:solidFill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Double-tap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457200" y="91440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e8639f"/>
                </a:solidFill>
                <a:uFillTx/>
                <a:latin typeface="Calibri"/>
                <a:ea typeface="Calibri"/>
              </a:rPr>
              <a:t>PARTICIPANT PRESENTATION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457200" y="1234440"/>
            <a:ext cx="33829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2e1b5b"/>
                </a:solidFill>
                <a:uFillTx/>
                <a:latin typeface="Georgia"/>
                <a:ea typeface="Georgia"/>
              </a:rPr>
              <a:t>Qiskit</a:t>
            </a:r>
            <a:endParaRPr b="0" lang="en-US" sz="3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e8639f"/>
                </a:solidFill>
                <a:uFillTx/>
                <a:latin typeface="Georgia"/>
                <a:ea typeface="Georgia"/>
              </a:rPr>
              <a:t>Fall Fest</a:t>
            </a:r>
            <a:endParaRPr b="0" lang="en-US" sz="3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2e1b5b"/>
                </a:solidFill>
                <a:uFillTx/>
                <a:latin typeface="Georgia"/>
                <a:ea typeface="Georgia"/>
              </a:rPr>
              <a:t>2026</a:t>
            </a:r>
            <a:endParaRPr b="0" lang="en-US" sz="3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457200" y="301752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a4380"/>
                </a:solidFill>
                <a:uFillTx/>
                <a:latin typeface="Calibri"/>
                <a:ea typeface="Calibri"/>
              </a:rPr>
              <a:t>Hackathon · Team Details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1" name="Bloch sphere ring" descr="sphere.png"/>
          <p:cNvPicPr/>
          <p:nvPr/>
        </p:nvPicPr>
        <p:blipFill>
          <a:blip r:embed="rId1"/>
          <a:stretch/>
        </p:blipFill>
        <p:spPr>
          <a:xfrm>
            <a:off x="457200" y="3291840"/>
            <a:ext cx="1371240" cy="137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Image 1" descr="bird1.png"/>
          <p:cNvPicPr/>
          <p:nvPr/>
        </p:nvPicPr>
        <p:blipFill>
          <a:blip r:embed="rId2"/>
          <a:stretch/>
        </p:blipFill>
        <p:spPr>
          <a:xfrm>
            <a:off x="2148840" y="3429000"/>
            <a:ext cx="731160" cy="438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Image 2" descr="bird2.png"/>
          <p:cNvPicPr/>
          <p:nvPr/>
        </p:nvPicPr>
        <p:blipFill>
          <a:blip r:embed="rId3"/>
          <a:stretch/>
        </p:blipFill>
        <p:spPr>
          <a:xfrm>
            <a:off x="2880360" y="3977640"/>
            <a:ext cx="502560" cy="30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Image 3" descr="bird3.png"/>
          <p:cNvPicPr/>
          <p:nvPr/>
        </p:nvPicPr>
        <p:blipFill>
          <a:blip r:embed="rId4"/>
          <a:stretch/>
        </p:blipFill>
        <p:spPr>
          <a:xfrm>
            <a:off x="2331720" y="4297680"/>
            <a:ext cx="38376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3"/>
          <p:cNvSpPr/>
          <p:nvPr/>
        </p:nvSpPr>
        <p:spPr>
          <a:xfrm>
            <a:off x="4023360" y="84132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e1b5b"/>
                </a:solidFill>
                <a:uFillTx/>
                <a:latin typeface="Georgia"/>
                <a:ea typeface="Georgia"/>
              </a:rPr>
              <a:t>Participant Details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Field: PROJECT TITLE"/>
          <p:cNvSpPr/>
          <p:nvPr/>
        </p:nvSpPr>
        <p:spPr>
          <a:xfrm>
            <a:off x="4023360" y="1261800"/>
            <a:ext cx="46630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360" rIns="114480" tIns="114480" bIns="381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9" strike="noStrike" u="none">
                <a:solidFill>
                  <a:srgbClr val="5b3ba8"/>
                </a:solidFill>
                <a:uFillTx/>
                <a:latin typeface="Calibri"/>
                <a:ea typeface="Calibri"/>
              </a:rPr>
              <a:t>PROJECT TITLE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Quantum ML-Based Software Bug Prediction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Field: TRACK"/>
          <p:cNvSpPr/>
          <p:nvPr/>
        </p:nvSpPr>
        <p:spPr>
          <a:xfrm>
            <a:off x="4023360" y="1865520"/>
            <a:ext cx="228564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360" rIns="114480" tIns="114480" bIns="381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9" strike="noStrike" u="none">
                <a:solidFill>
                  <a:srgbClr val="5b3ba8"/>
                </a:solidFill>
                <a:uFillTx/>
                <a:latin typeface="Calibri"/>
                <a:ea typeface="Calibri"/>
              </a:rPr>
              <a:t>TRACK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Quantum + AI&amp;ML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Field: TEAM NAME"/>
          <p:cNvSpPr/>
          <p:nvPr/>
        </p:nvSpPr>
        <p:spPr>
          <a:xfrm>
            <a:off x="6400800" y="1865520"/>
            <a:ext cx="228564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360" rIns="114480" tIns="114480" bIns="381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9" strike="noStrike" u="none">
                <a:solidFill>
                  <a:srgbClr val="5b3ba8"/>
                </a:solidFill>
                <a:uFillTx/>
                <a:latin typeface="Calibri"/>
                <a:ea typeface="Calibri"/>
              </a:rPr>
              <a:t>TEAM NAME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TrioByte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Field: TEAM LEADER"/>
          <p:cNvSpPr/>
          <p:nvPr/>
        </p:nvSpPr>
        <p:spPr>
          <a:xfrm>
            <a:off x="4023360" y="2468880"/>
            <a:ext cx="228564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360" rIns="114480" tIns="114480" bIns="381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9" strike="noStrike" u="none">
                <a:solidFill>
                  <a:srgbClr val="5b3ba8"/>
                </a:solidFill>
                <a:uFillTx/>
                <a:latin typeface="Calibri"/>
                <a:ea typeface="Calibri"/>
              </a:rPr>
              <a:t>TEAM LEADER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Disha M V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Field: EMAIL / CONTACT"/>
          <p:cNvSpPr/>
          <p:nvPr/>
        </p:nvSpPr>
        <p:spPr>
          <a:xfrm>
            <a:off x="6400800" y="2468880"/>
            <a:ext cx="228564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360" rIns="114480" tIns="114480" bIns="381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9" strike="noStrike" u="none">
                <a:solidFill>
                  <a:srgbClr val="5b3ba8"/>
                </a:solidFill>
                <a:uFillTx/>
                <a:latin typeface="Calibri"/>
                <a:ea typeface="Calibri"/>
              </a:rPr>
              <a:t>EMAIL / CONTACT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9" strike="noStrike" u="none">
                <a:solidFill>
                  <a:srgbClr val="5b3ba8"/>
                </a:solidFill>
                <a:uFillTx/>
                <a:latin typeface="Calibri"/>
                <a:ea typeface="Calibri"/>
              </a:rPr>
              <a:t>dishamv72@gmai.com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Field: TEAM MEMBERS"/>
          <p:cNvSpPr/>
          <p:nvPr/>
        </p:nvSpPr>
        <p:spPr>
          <a:xfrm>
            <a:off x="4023360" y="3072240"/>
            <a:ext cx="4663080" cy="7768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360" rIns="114480" tIns="114480" bIns="381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9" strike="noStrike" u="none">
                <a:solidFill>
                  <a:srgbClr val="5b3ba8"/>
                </a:solidFill>
                <a:uFillTx/>
                <a:latin typeface="Calibri"/>
                <a:ea typeface="Calibri"/>
              </a:rPr>
              <a:t>TEAM MEMBERS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9" strike="noStrike" u="none">
                <a:solidFill>
                  <a:srgbClr val="5b3ba8"/>
                </a:solidFill>
                <a:uFillTx/>
                <a:latin typeface="Calibri"/>
                <a:ea typeface="Calibri"/>
              </a:rPr>
              <a:t>1.Disha M V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9" strike="noStrike" u="none">
                <a:solidFill>
                  <a:srgbClr val="5b3ba8"/>
                </a:solidFill>
                <a:uFillTx/>
                <a:latin typeface="Calibri"/>
                <a:ea typeface="Calibri"/>
              </a:rPr>
              <a:t>2.Harshitha K P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9" strike="noStrike" u="none">
                <a:solidFill>
                  <a:srgbClr val="5b3ba8"/>
                </a:solidFill>
                <a:uFillTx/>
                <a:latin typeface="Calibri"/>
                <a:ea typeface="Calibri"/>
              </a:rPr>
              <a:t>3.Ishakrishna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Field: INSTITUTION / ORGANISATION"/>
          <p:cNvSpPr/>
          <p:nvPr/>
        </p:nvSpPr>
        <p:spPr>
          <a:xfrm>
            <a:off x="4023360" y="3922920"/>
            <a:ext cx="2285640" cy="6562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360" rIns="114480" tIns="114480" bIns="381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9" strike="noStrike" u="none">
                <a:solidFill>
                  <a:srgbClr val="5b3ba8"/>
                </a:solidFill>
                <a:uFillTx/>
                <a:latin typeface="Calibri"/>
                <a:ea typeface="Calibri"/>
              </a:rPr>
              <a:t>INSTITUTION / ORGANISATION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9" strike="noStrike" u="none">
                <a:solidFill>
                  <a:srgbClr val="5b3ba8"/>
                </a:solidFill>
                <a:uFillTx/>
                <a:latin typeface="Calibri"/>
                <a:ea typeface="Calibri"/>
              </a:rPr>
              <a:t>Vivekananda College Of Engineering &amp;Technology Puttur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Field: COUNTRY"/>
          <p:cNvSpPr/>
          <p:nvPr/>
        </p:nvSpPr>
        <p:spPr>
          <a:xfrm>
            <a:off x="6400800" y="3922920"/>
            <a:ext cx="2285640" cy="6030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360" rIns="114480" tIns="114480" bIns="381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9" strike="noStrike" u="none">
                <a:solidFill>
                  <a:srgbClr val="5b3ba8"/>
                </a:solidFill>
                <a:uFillTx/>
                <a:latin typeface="Calibri"/>
                <a:ea typeface="Calibri"/>
              </a:rPr>
              <a:t>COUNTRY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9" strike="noStrike" u="none">
                <a:solidFill>
                  <a:srgbClr val="5b3ba8"/>
                </a:solidFill>
                <a:uFillTx/>
                <a:latin typeface="Calibri"/>
                <a:ea typeface="Calibri"/>
              </a:rPr>
              <a:t>India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841320"/>
            <a:ext cx="63090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rgbClr val="2e1b5b"/>
                </a:solidFill>
                <a:uFillTx/>
                <a:latin typeface="Georgia"/>
                <a:ea typeface="Georgia"/>
              </a:rPr>
              <a:t>Problem Statement</a:t>
            </a:r>
            <a:endParaRPr b="0" lang="en-US" sz="2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5" name="Title accent"/>
          <p:cNvSpPr/>
          <p:nvPr/>
        </p:nvSpPr>
        <p:spPr>
          <a:xfrm>
            <a:off x="457200" y="1463040"/>
            <a:ext cx="255600" cy="45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6" name="Title accent"/>
          <p:cNvSpPr/>
          <p:nvPr/>
        </p:nvSpPr>
        <p:spPr>
          <a:xfrm>
            <a:off x="731520" y="1463040"/>
            <a:ext cx="255600" cy="45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7" name="Title accent"/>
          <p:cNvSpPr/>
          <p:nvPr/>
        </p:nvSpPr>
        <p:spPr>
          <a:xfrm>
            <a:off x="1005840" y="1463040"/>
            <a:ext cx="255600" cy="45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8" name="Content card"/>
          <p:cNvSpPr/>
          <p:nvPr/>
        </p:nvSpPr>
        <p:spPr>
          <a:xfrm>
            <a:off x="457200" y="1691640"/>
            <a:ext cx="8229240" cy="2925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Card accent"/>
          <p:cNvSpPr/>
          <p:nvPr/>
        </p:nvSpPr>
        <p:spPr>
          <a:xfrm>
            <a:off x="685800" y="1691640"/>
            <a:ext cx="822600" cy="54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0" name="Text 6"/>
          <p:cNvSpPr/>
          <p:nvPr/>
        </p:nvSpPr>
        <p:spPr>
          <a:xfrm>
            <a:off x="550080" y="1874520"/>
            <a:ext cx="8043480" cy="251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Problem Statement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Software defects can cause system failures, security issues, higher maintenance costs, and delays.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Early defect prediction helps developers improve software quality and prioritize testing.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Traditional machine learning may struggle with imbalanced data and complex patterns, while quantum machine learning offers an alternative approach using quantum feature maps and kernel methods.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Our Problem: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Predicting defective and non-defective software modules using a quantum-kernel-based classifier and the NASA CM1 dataset.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Goal: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To build and compare a classical Support Vector Machine (SVM) and a Quantum Support Vector Classifier (QSVC) using accuracy, precision, recall, and F1-score.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ldNum" idx="5"/>
          </p:nvPr>
        </p:nvSpPr>
        <p:spPr>
          <a:xfrm>
            <a:off x="8321040" y="4864680"/>
            <a:ext cx="36540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trike="noStrike" u="none">
                <a:solidFill>
                  <a:srgbClr val="2e1b5b"/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EC5BF5-AA96-4A7F-B7F4-A8D31376295F}" type="slidenum">
              <a:rPr b="1" lang="en-US" sz="900" strike="noStrike" u="none">
                <a:solidFill>
                  <a:srgbClr val="2e1b5b"/>
                </a:solidFill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841320"/>
            <a:ext cx="63090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rgbClr val="2e1b5b"/>
                </a:solidFill>
                <a:uFillTx/>
                <a:latin typeface="Georgia"/>
                <a:ea typeface="Georgia"/>
              </a:rPr>
              <a:t>Objectives &amp; Novelty</a:t>
            </a:r>
            <a:endParaRPr b="0" lang="en-US" sz="2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3" name="Title accent"/>
          <p:cNvSpPr/>
          <p:nvPr/>
        </p:nvSpPr>
        <p:spPr>
          <a:xfrm>
            <a:off x="457200" y="1463040"/>
            <a:ext cx="255600" cy="45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4" name="Title accent"/>
          <p:cNvSpPr/>
          <p:nvPr/>
        </p:nvSpPr>
        <p:spPr>
          <a:xfrm>
            <a:off x="731520" y="1463040"/>
            <a:ext cx="255600" cy="45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5" name="Title accent"/>
          <p:cNvSpPr/>
          <p:nvPr/>
        </p:nvSpPr>
        <p:spPr>
          <a:xfrm>
            <a:off x="1005840" y="1463040"/>
            <a:ext cx="255600" cy="45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6" name="Content card"/>
          <p:cNvSpPr/>
          <p:nvPr/>
        </p:nvSpPr>
        <p:spPr>
          <a:xfrm>
            <a:off x="457200" y="1691640"/>
            <a:ext cx="8229240" cy="2925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Card accent"/>
          <p:cNvSpPr/>
          <p:nvPr/>
        </p:nvSpPr>
        <p:spPr>
          <a:xfrm>
            <a:off x="685800" y="1691640"/>
            <a:ext cx="822600" cy="54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550080" y="1874520"/>
            <a:ext cx="8050680" cy="268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Objectives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Use the NASA CM1 dataset to predict defective and non-defective software modules.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Preprocess data and prepare target labels.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Build a classical SVM and a quantum-kernel-based QSVC using Qiskit.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Compare both models using accuracy, precision, recall, and F1-score.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Develop a Streamlit app to display predictions and results.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Novelty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Apply quantum machine learning to software defect prediction.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Compare classical and quantum-kernel classifiers in one workflow.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Use a quantum feature map to encode software metrics.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Present results through an interactive application.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Key Contribution: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 An experimental framework for evaluating quantum-kernel classification on software defect data.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ldNum" idx="6"/>
          </p:nvPr>
        </p:nvSpPr>
        <p:spPr>
          <a:xfrm>
            <a:off x="8321040" y="4864680"/>
            <a:ext cx="36540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trike="noStrike" u="none">
                <a:solidFill>
                  <a:srgbClr val="2e1b5b"/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6B9254-576E-4B63-8B74-34B05BA88F52}" type="slidenum">
              <a:rPr b="1" lang="en-US" sz="900" strike="noStrike" u="none">
                <a:solidFill>
                  <a:srgbClr val="2e1b5b"/>
                </a:solidFill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841320"/>
            <a:ext cx="63090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rgbClr val="2e1b5b"/>
                </a:solidFill>
                <a:uFillTx/>
                <a:latin typeface="Georgia"/>
                <a:ea typeface="Georgia"/>
              </a:rPr>
              <a:t>Solution &amp; Quantum Advantage</a:t>
            </a:r>
            <a:endParaRPr b="0" lang="en-US" sz="2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1" name="Title accent"/>
          <p:cNvSpPr/>
          <p:nvPr/>
        </p:nvSpPr>
        <p:spPr>
          <a:xfrm>
            <a:off x="457200" y="1463040"/>
            <a:ext cx="255600" cy="45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2" name="Title accent"/>
          <p:cNvSpPr/>
          <p:nvPr/>
        </p:nvSpPr>
        <p:spPr>
          <a:xfrm>
            <a:off x="731520" y="1463040"/>
            <a:ext cx="255600" cy="45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3" name="Title accent"/>
          <p:cNvSpPr/>
          <p:nvPr/>
        </p:nvSpPr>
        <p:spPr>
          <a:xfrm>
            <a:off x="1005840" y="1463040"/>
            <a:ext cx="255600" cy="45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4" name="Content card"/>
          <p:cNvSpPr/>
          <p:nvPr/>
        </p:nvSpPr>
        <p:spPr>
          <a:xfrm>
            <a:off x="457200" y="1691640"/>
            <a:ext cx="8229240" cy="2925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Card accent"/>
          <p:cNvSpPr/>
          <p:nvPr/>
        </p:nvSpPr>
        <p:spPr>
          <a:xfrm>
            <a:off x="685800" y="1691640"/>
            <a:ext cx="822600" cy="54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457200" y="1728360"/>
            <a:ext cx="8229240" cy="28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Proposed Solution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Our system uses NASA CM1 software metrics to predict whether a module is defective or non-defective.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Workflow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Load and preprocess the dataset.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Split data into training and testing sets.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Train classical SVM and quantum QSVC models.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Evaluate both models using performance metrics.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Display results through a Streamlit app.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Quantum Approach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Feature Map: ZZFeatureMap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Quantum Kernel: FidelityQuantumKernel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Classifier: QSVC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Execution: Quantum simulation on a classical computer.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Quantum Advantage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QSVC achieved slightly higher accuracy, while SVM performed better in precision, recall, and F1-score. Quantum advantage is not yet established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ldNum" idx="7"/>
          </p:nvPr>
        </p:nvSpPr>
        <p:spPr>
          <a:xfrm>
            <a:off x="8321040" y="4864680"/>
            <a:ext cx="36540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trike="noStrike" u="none">
                <a:solidFill>
                  <a:srgbClr val="2e1b5b"/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41A1E0-E8B7-4AAD-8079-AADB9A6552F1}" type="slidenum">
              <a:rPr b="1" lang="en-US" sz="900" strike="noStrike" u="none">
                <a:solidFill>
                  <a:srgbClr val="2e1b5b"/>
                </a:solidFill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841320"/>
            <a:ext cx="63090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rgbClr val="2e1b5b"/>
                </a:solidFill>
                <a:uFillTx/>
                <a:latin typeface="Georgia"/>
                <a:ea typeface="Georgia"/>
              </a:rPr>
              <a:t>Algorithm &amp; Circuit Design</a:t>
            </a:r>
            <a:endParaRPr b="0" lang="en-US" sz="2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9" name="Title accent"/>
          <p:cNvSpPr/>
          <p:nvPr/>
        </p:nvSpPr>
        <p:spPr>
          <a:xfrm>
            <a:off x="457200" y="1463040"/>
            <a:ext cx="255600" cy="45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0" name="Title accent"/>
          <p:cNvSpPr/>
          <p:nvPr/>
        </p:nvSpPr>
        <p:spPr>
          <a:xfrm>
            <a:off x="731520" y="1463040"/>
            <a:ext cx="255600" cy="45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1" name="Title accent"/>
          <p:cNvSpPr/>
          <p:nvPr/>
        </p:nvSpPr>
        <p:spPr>
          <a:xfrm>
            <a:off x="1005840" y="1463040"/>
            <a:ext cx="255600" cy="45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2" name="Insert area"/>
          <p:cNvSpPr/>
          <p:nvPr/>
        </p:nvSpPr>
        <p:spPr>
          <a:xfrm>
            <a:off x="457200" y="1691640"/>
            <a:ext cx="4937400" cy="292572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640080" y="1874520"/>
            <a:ext cx="457164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4" name="Content card"/>
          <p:cNvSpPr/>
          <p:nvPr/>
        </p:nvSpPr>
        <p:spPr>
          <a:xfrm>
            <a:off x="5577840" y="1691640"/>
            <a:ext cx="3108600" cy="2925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Card accent"/>
          <p:cNvSpPr/>
          <p:nvPr/>
        </p:nvSpPr>
        <p:spPr>
          <a:xfrm>
            <a:off x="5806440" y="1691640"/>
            <a:ext cx="822600" cy="54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6" name="Text 8"/>
          <p:cNvSpPr/>
          <p:nvPr/>
        </p:nvSpPr>
        <p:spPr>
          <a:xfrm>
            <a:off x="5679720" y="1874520"/>
            <a:ext cx="2921400" cy="254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Key Details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Algorithm: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 Quantum Support Vector Classifier (QSVC)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Feature Map: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 ZZFeatureMap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Quantum Kernel: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 FidelityQuantumKernel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Framework: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 Qiskit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Process: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 Feature Encoding → Kernel Calculation → Classification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Output: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 Defective or Non-defective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Execution: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 Quantum simulation on a classical computer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Quantum Advantage: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 Not yet established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ldNum" idx="8"/>
          </p:nvPr>
        </p:nvSpPr>
        <p:spPr>
          <a:xfrm>
            <a:off x="8321040" y="4864680"/>
            <a:ext cx="36540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trike="noStrike" u="none">
                <a:solidFill>
                  <a:srgbClr val="2e1b5b"/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3DB99D-0C8D-4F03-B7C2-290B85C1D15D}" type="slidenum">
              <a:rPr b="1" lang="en-US" sz="900" strike="noStrike" u="none">
                <a:solidFill>
                  <a:srgbClr val="2e1b5b"/>
                </a:solidFill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8" name="Picture 10" descr=""/>
          <p:cNvPicPr/>
          <p:nvPr/>
        </p:nvPicPr>
        <p:blipFill>
          <a:blip r:embed="rId1"/>
          <a:stretch/>
        </p:blipFill>
        <p:spPr>
          <a:xfrm>
            <a:off x="457200" y="1720440"/>
            <a:ext cx="4937400" cy="2868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841320"/>
            <a:ext cx="63090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rgbClr val="2e1b5b"/>
                </a:solidFill>
                <a:uFillTx/>
                <a:latin typeface="Georgia"/>
                <a:ea typeface="Georgia"/>
              </a:rPr>
              <a:t>Implementation &amp; Tech Stack</a:t>
            </a:r>
            <a:endParaRPr b="0" lang="en-US" sz="2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0" name="Title accent"/>
          <p:cNvSpPr/>
          <p:nvPr/>
        </p:nvSpPr>
        <p:spPr>
          <a:xfrm>
            <a:off x="457200" y="1463040"/>
            <a:ext cx="255600" cy="45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1" name="Title accent"/>
          <p:cNvSpPr/>
          <p:nvPr/>
        </p:nvSpPr>
        <p:spPr>
          <a:xfrm>
            <a:off x="731520" y="1463040"/>
            <a:ext cx="255600" cy="45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2" name="Title accent"/>
          <p:cNvSpPr/>
          <p:nvPr/>
        </p:nvSpPr>
        <p:spPr>
          <a:xfrm>
            <a:off x="1005840" y="1463040"/>
            <a:ext cx="255600" cy="45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3" name="Content card"/>
          <p:cNvSpPr/>
          <p:nvPr/>
        </p:nvSpPr>
        <p:spPr>
          <a:xfrm>
            <a:off x="457200" y="1691640"/>
            <a:ext cx="8229240" cy="2925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Card accent"/>
          <p:cNvSpPr/>
          <p:nvPr/>
        </p:nvSpPr>
        <p:spPr>
          <a:xfrm>
            <a:off x="685800" y="1691640"/>
            <a:ext cx="822600" cy="54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507240" y="1753920"/>
            <a:ext cx="8128800" cy="29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Implementation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Language: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 Python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Dataset: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 NASA CM1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Models: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 Classical SVM (RBF) and Quantum QSVC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Quantum: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 ZZFeatureMap, FidelityQuantumKernel, Qiskit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Libraries: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 Pandas, NumPy, scikit-learn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Interface: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 Streamlit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IDE: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 Visual Studio Code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Application Features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Trains and compares SVM and QSVC.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Evaluates accuracy, precision, recall, and F1-score.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Displays predictions and exports results to CSV.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Execution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Run using:python -m streamlit run app.py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The application displays predictions and experimental results in a web browser.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Num" idx="9"/>
          </p:nvPr>
        </p:nvSpPr>
        <p:spPr>
          <a:xfrm>
            <a:off x="8321040" y="4864680"/>
            <a:ext cx="36540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trike="noStrike" u="none">
                <a:solidFill>
                  <a:srgbClr val="2e1b5b"/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9BF617-BC0E-4FCA-9A1E-D914FF50D2B2}" type="slidenum">
              <a:rPr b="1" lang="en-US" sz="900" strike="noStrike" u="none">
                <a:solidFill>
                  <a:srgbClr val="2e1b5b"/>
                </a:solidFill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841320"/>
            <a:ext cx="63090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rgbClr val="2e1b5b"/>
                </a:solidFill>
                <a:uFillTx/>
                <a:latin typeface="Georgia"/>
                <a:ea typeface="Georgia"/>
              </a:rPr>
              <a:t>Results &amp; Analysis</a:t>
            </a:r>
            <a:endParaRPr b="0" lang="en-US" sz="2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8" name="Title accent"/>
          <p:cNvSpPr/>
          <p:nvPr/>
        </p:nvSpPr>
        <p:spPr>
          <a:xfrm>
            <a:off x="457200" y="1463040"/>
            <a:ext cx="255600" cy="45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9" name="Title accent"/>
          <p:cNvSpPr/>
          <p:nvPr/>
        </p:nvSpPr>
        <p:spPr>
          <a:xfrm>
            <a:off x="731520" y="1463040"/>
            <a:ext cx="255600" cy="45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0" name="Title accent"/>
          <p:cNvSpPr/>
          <p:nvPr/>
        </p:nvSpPr>
        <p:spPr>
          <a:xfrm>
            <a:off x="1005840" y="1463040"/>
            <a:ext cx="255600" cy="45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1" name="Insert area"/>
          <p:cNvSpPr/>
          <p:nvPr/>
        </p:nvSpPr>
        <p:spPr>
          <a:xfrm>
            <a:off x="457200" y="1691640"/>
            <a:ext cx="4937400" cy="292572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640080" y="1874520"/>
            <a:ext cx="457164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Content card"/>
          <p:cNvSpPr/>
          <p:nvPr/>
        </p:nvSpPr>
        <p:spPr>
          <a:xfrm>
            <a:off x="5577840" y="1691640"/>
            <a:ext cx="3108600" cy="2925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Card accent"/>
          <p:cNvSpPr/>
          <p:nvPr/>
        </p:nvSpPr>
        <p:spPr>
          <a:xfrm>
            <a:off x="5806440" y="1691640"/>
            <a:ext cx="822600" cy="54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5" name="Text 8"/>
          <p:cNvSpPr/>
          <p:nvPr/>
        </p:nvSpPr>
        <p:spPr>
          <a:xfrm>
            <a:off x="5806440" y="1874520"/>
            <a:ext cx="2697120" cy="268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Key Details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QSVC achieved slightly higher accuracy (76.0%).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SVM performed better in precision, recall, and F1-score.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Both models need improvement in detecting defective modules.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indent="-171360" algn="just" defTabSz="914400">
              <a:lnSpc>
                <a:spcPct val="100000"/>
              </a:lnSpc>
              <a:buFont typeface="Arial"/>
              <a:buChar char="•"/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Results are based on one test split; quantum advantage is not established.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sldNum" idx="10"/>
          </p:nvPr>
        </p:nvSpPr>
        <p:spPr>
          <a:xfrm>
            <a:off x="8321040" y="4864680"/>
            <a:ext cx="36540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trike="noStrike" u="none">
                <a:solidFill>
                  <a:srgbClr val="2e1b5b"/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E71EE9-F25A-4C58-88A5-2AED5B69F5DB}" type="slidenum">
              <a:rPr b="1" lang="en-US" sz="900" strike="noStrike" u="none">
                <a:solidFill>
                  <a:srgbClr val="2e1b5b"/>
                </a:solidFill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509760" y="1756440"/>
            <a:ext cx="4857120" cy="2683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841320"/>
            <a:ext cx="63090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rgbClr val="2e1b5b"/>
                </a:solidFill>
                <a:uFillTx/>
                <a:latin typeface="Georgia"/>
                <a:ea typeface="Georgia"/>
              </a:rPr>
              <a:t>Impact &amp; Real-World Applications</a:t>
            </a:r>
            <a:endParaRPr b="0" lang="en-US" sz="2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19" name="Title accent"/>
          <p:cNvSpPr/>
          <p:nvPr/>
        </p:nvSpPr>
        <p:spPr>
          <a:xfrm>
            <a:off x="457200" y="1463040"/>
            <a:ext cx="255600" cy="45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0" name="Title accent"/>
          <p:cNvSpPr/>
          <p:nvPr/>
        </p:nvSpPr>
        <p:spPr>
          <a:xfrm>
            <a:off x="731520" y="1463040"/>
            <a:ext cx="255600" cy="45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1" name="Title accent"/>
          <p:cNvSpPr/>
          <p:nvPr/>
        </p:nvSpPr>
        <p:spPr>
          <a:xfrm>
            <a:off x="1005840" y="1463040"/>
            <a:ext cx="255600" cy="45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2" name="Content card"/>
          <p:cNvSpPr/>
          <p:nvPr/>
        </p:nvSpPr>
        <p:spPr>
          <a:xfrm>
            <a:off x="457200" y="1691640"/>
            <a:ext cx="8229240" cy="2925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Card accent"/>
          <p:cNvSpPr/>
          <p:nvPr/>
        </p:nvSpPr>
        <p:spPr>
          <a:xfrm>
            <a:off x="685800" y="1691640"/>
            <a:ext cx="822600" cy="54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832680" y="2002680"/>
            <a:ext cx="7488000" cy="19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Potential Impact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Identifies potentially defect-prone software modules.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Helps prioritize testing and code reviews.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Supports software quality improvement.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Demonstrates quantum ML for software defect prediction.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Real-World Applications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Software Testing: Focus testing on high-risk modules.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Quality Assurance: Support defect-risk assessment.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Software Maintenance: Prioritize code reviews and debugging.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Research and Education: Compare classical SVM and quantum QSVC.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sldNum" idx="11"/>
          </p:nvPr>
        </p:nvSpPr>
        <p:spPr>
          <a:xfrm>
            <a:off x="8321040" y="4864680"/>
            <a:ext cx="36540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trike="noStrike" u="none">
                <a:solidFill>
                  <a:srgbClr val="2e1b5b"/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F9FB25-0116-46A9-956D-2C457E9B64F0}" type="slidenum">
              <a:rPr b="1" lang="en-US" sz="900" strike="noStrike" u="none">
                <a:solidFill>
                  <a:srgbClr val="2e1b5b"/>
                </a:solidFill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841320"/>
            <a:ext cx="6309000" cy="59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rgbClr val="2e1b5b"/>
                </a:solidFill>
                <a:uFillTx/>
                <a:latin typeface="Georgia"/>
                <a:ea typeface="Georgia"/>
              </a:rPr>
              <a:t>Challenges &amp; Future Scope</a:t>
            </a:r>
            <a:endParaRPr b="0" lang="en-US" sz="2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27" name="Title accent"/>
          <p:cNvSpPr/>
          <p:nvPr/>
        </p:nvSpPr>
        <p:spPr>
          <a:xfrm>
            <a:off x="457200" y="1463040"/>
            <a:ext cx="255600" cy="4536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8" name="Title accent"/>
          <p:cNvSpPr/>
          <p:nvPr/>
        </p:nvSpPr>
        <p:spPr>
          <a:xfrm>
            <a:off x="731520" y="1463040"/>
            <a:ext cx="255600" cy="45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9" name="Title accent"/>
          <p:cNvSpPr/>
          <p:nvPr/>
        </p:nvSpPr>
        <p:spPr>
          <a:xfrm>
            <a:off x="1005840" y="1463040"/>
            <a:ext cx="255600" cy="4536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0" name="Content card"/>
          <p:cNvSpPr/>
          <p:nvPr/>
        </p:nvSpPr>
        <p:spPr>
          <a:xfrm>
            <a:off x="457200" y="1691640"/>
            <a:ext cx="8229240" cy="2925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Card accent"/>
          <p:cNvSpPr/>
          <p:nvPr/>
        </p:nvSpPr>
        <p:spPr>
          <a:xfrm>
            <a:off x="685800" y="1691640"/>
            <a:ext cx="822600" cy="5436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685800" y="1874520"/>
            <a:ext cx="7944840" cy="264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Challenges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Class Imbalance: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 Fewer defective modules in the dataset.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Model Performance: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 Low precision and recall for defect detection.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Quantum Cost: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 Kernel calculations can be computationally expensive.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Evaluation: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 Results are based on one test split.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Quantum Advantage:</a:t>
            </a: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 Not yet established.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Future Scope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Apply class balancing techniques.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Use cross-validation for reliable evaluation.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Improve feature selection and model tuning.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Test on additional datasets like NASA KC1.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Explore quantum hardware and scalability.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uFillTx/>
                <a:latin typeface="Calibri"/>
              </a:rPr>
              <a:t>Long-Term Goal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IN" sz="1200" strike="noStrike" u="none">
                <a:solidFill>
                  <a:schemeClr val="dk1"/>
                </a:solidFill>
                <a:uFillTx/>
                <a:latin typeface="Calibri"/>
              </a:rPr>
              <a:t>Develop a reliable software defect prediction system combining classical and quantum machine learning.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ldNum" idx="12"/>
          </p:nvPr>
        </p:nvSpPr>
        <p:spPr>
          <a:xfrm>
            <a:off x="8321040" y="4864680"/>
            <a:ext cx="365400" cy="27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900" strike="noStrike" u="none">
                <a:solidFill>
                  <a:srgbClr val="2e1b5b"/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854619-0F64-41CC-9499-58EAF7C83A7A}" type="slidenum">
              <a:rPr b="1" lang="en-US" sz="900" strike="noStrike" u="none">
                <a:solidFill>
                  <a:srgbClr val="2e1b5b"/>
                </a:solidFill>
                <a:uFillTx/>
                <a:latin typeface="Calibri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/>
          <p:nvPr/>
        </p:nvSpPr>
        <p:spPr>
          <a:xfrm>
            <a:off x="457200" y="9144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e8639f"/>
                </a:solidFill>
                <a:uFillTx/>
                <a:latin typeface="Calibri"/>
                <a:ea typeface="Calibri"/>
              </a:rPr>
              <a:t>CLOSING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457200" y="1188720"/>
            <a:ext cx="47545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2e1b5b"/>
                </a:solidFill>
                <a:uFillTx/>
                <a:latin typeface="Georgia"/>
                <a:ea typeface="Georgia"/>
              </a:rPr>
              <a:t>Thank You</a:t>
            </a:r>
            <a:endParaRPr b="0" lang="en-US" sz="4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e8639f"/>
                </a:solidFill>
                <a:uFillTx/>
                <a:latin typeface="Georgia"/>
                <a:ea typeface="Georgia"/>
              </a:rPr>
              <a:t>Questions?</a:t>
            </a:r>
            <a:endParaRPr b="0" lang="en-US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Text 2"/>
          <p:cNvSpPr/>
          <p:nvPr/>
        </p:nvSpPr>
        <p:spPr>
          <a:xfrm>
            <a:off x="457200" y="278892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6f7399"/>
                </a:solidFill>
                <a:uFillTx/>
                <a:latin typeface="Calibri"/>
                <a:ea typeface="Calibri"/>
              </a:rPr>
              <a:t>Inspiring Minds. Shaping Tomorrow.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Field: GITHUB REPOSITORY"/>
          <p:cNvSpPr/>
          <p:nvPr/>
        </p:nvSpPr>
        <p:spPr>
          <a:xfrm>
            <a:off x="320040" y="3310200"/>
            <a:ext cx="228564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360" rIns="114480" tIns="114480" bIns="381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9" strike="noStrike" u="none">
                <a:solidFill>
                  <a:srgbClr val="5b3ba8"/>
                </a:solidFill>
                <a:uFillTx/>
                <a:latin typeface="Calibri"/>
                <a:ea typeface="Calibri"/>
              </a:rPr>
              <a:t>GITHUB REPOSITORY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https://github.com/vtu-qiskit-fall-fest-2026/vtu-hc-triobyte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Field: DEMO VIDEO LINK"/>
          <p:cNvSpPr/>
          <p:nvPr/>
        </p:nvSpPr>
        <p:spPr>
          <a:xfrm>
            <a:off x="2834640" y="3291840"/>
            <a:ext cx="228564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3360" rIns="114480" tIns="114480" bIns="381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9" strike="noStrike" u="none">
                <a:solidFill>
                  <a:srgbClr val="5b3ba8"/>
                </a:solidFill>
                <a:uFillTx/>
                <a:latin typeface="Calibri"/>
                <a:ea typeface="Calibri"/>
              </a:rPr>
              <a:t>DEMO VIDEO LINK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https://youtu.be/qWoJreXOV0s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9" name="Bloch sphere ring" descr="sphere.png"/>
          <p:cNvPicPr/>
          <p:nvPr/>
        </p:nvPicPr>
        <p:blipFill>
          <a:blip r:embed="rId1"/>
          <a:stretch/>
        </p:blipFill>
        <p:spPr>
          <a:xfrm>
            <a:off x="5486400" y="1097280"/>
            <a:ext cx="3200040" cy="320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Image 1" descr="bird1.png"/>
          <p:cNvPicPr/>
          <p:nvPr/>
        </p:nvPicPr>
        <p:blipFill>
          <a:blip r:embed="rId2"/>
          <a:stretch/>
        </p:blipFill>
        <p:spPr>
          <a:xfrm>
            <a:off x="5029200" y="914400"/>
            <a:ext cx="822600" cy="49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Image 2" descr="bird2.png"/>
          <p:cNvPicPr/>
          <p:nvPr/>
        </p:nvPicPr>
        <p:blipFill>
          <a:blip r:embed="rId3"/>
          <a:stretch/>
        </p:blipFill>
        <p:spPr>
          <a:xfrm>
            <a:off x="4754880" y="3840480"/>
            <a:ext cx="548280" cy="32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Image 3" descr="bird3.png"/>
          <p:cNvPicPr/>
          <p:nvPr/>
        </p:nvPicPr>
        <p:blipFill>
          <a:blip r:embed="rId4"/>
          <a:stretch/>
        </p:blipFill>
        <p:spPr>
          <a:xfrm>
            <a:off x="8229600" y="4023360"/>
            <a:ext cx="45684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728</TotalTime>
  <Application>LibreOfficeDev/24.8.7.2.0$Android_AARCH64 LibreOffice_project/</Application>
  <AppVersion>15.0000</AppVersion>
  <Words>825</Words>
  <Paragraphs>149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Disha M</dc:creator>
  <dc:description/>
  <dc:language>en-US</dc:language>
  <cp:lastModifiedBy/>
  <dcterms:modified xsi:type="dcterms:W3CDTF">2026-10-23T11:54:34Z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